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0B19-0669-F997-70C8-FCAEC9150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3B656-5AE1-4B4F-51F6-3CE836BCD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6CE67-7D59-8B1B-0D18-96B352B8B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7EC-0EBB-42A2-8A9E-F0DBACF3298C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C596D-7782-8A46-BA44-4FB34B94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AEC3D-6FB3-DF57-5E03-1DFDDD3E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1996-BBCF-4B28-B338-C43829DBB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049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BF067-D638-4469-359E-EFB44329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A2022-7602-836E-171A-41E7636FB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4453E-6FE1-A072-4112-C00FE5C4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7EC-0EBB-42A2-8A9E-F0DBACF3298C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50544-7162-E6A4-B3D7-ED897966E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9697B-BA64-5A53-C03D-AB815C3A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1996-BBCF-4B28-B338-C43829DBB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662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33897-794E-38DA-31DB-19CD65D3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F9C7D-BF2F-A024-8F05-943BCD2B3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D325C-2CEA-BC37-067F-2F7B2B07D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7EC-0EBB-42A2-8A9E-F0DBACF3298C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0C810-BDBF-DE87-7E21-B6DC5B8A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45DD6-BC42-8AA6-1741-B1769D117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1996-BBCF-4B28-B338-C43829DBB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177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F7BD-504B-9259-C3F8-002513BD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93B46-B4B0-3858-7479-7CF8B1070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C4AF0-006E-E681-77F1-48507003C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44634-8702-F352-1EFD-027C4E501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7EC-0EBB-42A2-8A9E-F0DBACF3298C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E42E8-1A04-726A-953C-7E7678D3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11A53-3A85-E538-FFDD-D8EEC97F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1996-BBCF-4B28-B338-C43829DBB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344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C5C5-5AC4-3CD8-4574-001DCFD5F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7EE9B-C478-6349-B321-A7B0111F7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1E615-CCD4-9996-6DAA-EA70F15F0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5B75C-DB55-B99A-C416-17F84A6F9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B89994-B006-1E39-F7D9-4D8CAEE11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61E20-395A-B23D-C4E0-1BE89A53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7EC-0EBB-42A2-8A9E-F0DBACF3298C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B7090-0861-ECEC-742A-6D1FBF022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2C3FE4-BA41-687C-A392-B5153954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1996-BBCF-4B28-B338-C43829DBB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7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4801-C6FB-95F8-A05B-958494F94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09E9F-2D11-5742-FD3B-EA15FD2BA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7EC-0EBB-42A2-8A9E-F0DBACF3298C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5C6FE-D24B-2770-5DA2-345BDFA3E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8CC07-34C4-7638-D8B3-ED7C38FBC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1996-BBCF-4B28-B338-C43829DBB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816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62D73F-2532-869B-7C8A-7F66E28DE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7EC-0EBB-42A2-8A9E-F0DBACF3298C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82B491-AC8F-1C8A-76DD-CF51431E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26658-0314-D02E-5B38-A915DEAF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1996-BBCF-4B28-B338-C43829DBB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195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201FD-6813-04DB-1CFA-9D3CF89BA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47CA9-31AF-C89A-2DD9-24FA1EF93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BBA17-A5DB-DDC2-E7AA-9D2FA19C3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960F1-8B8E-575D-4500-1DAE4F42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7EC-0EBB-42A2-8A9E-F0DBACF3298C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87912-D9D4-8CA2-1A6C-8D3621F3E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66330-86B9-9B83-E288-CD77262D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1996-BBCF-4B28-B338-C43829DBB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34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C3AF5-8B60-2CF5-820A-8179E9228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BC17F-BF65-B402-7E26-1BDB7CC02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E6890-8302-C949-728B-E0F40146F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7B6EB-F006-0576-E421-567A6E6B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7EC-0EBB-42A2-8A9E-F0DBACF3298C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83273-405E-0180-9203-C92306AE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D36F9-F4AA-9F31-84E9-7A03D9F6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1996-BBCF-4B28-B338-C43829DBB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3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A8C2E-D3D5-4AEB-2572-1C1E1BE02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DFA007-6818-5146-0045-B0B55820F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F125C-8B72-C5C6-977C-A8570EDF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7EC-0EBB-42A2-8A9E-F0DBACF3298C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A3FA7-B9D6-4D87-72B2-31AE84461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4443D-0602-E5D0-8CB5-DBE58F8C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1996-BBCF-4B28-B338-C43829DBB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C62A0-12BB-9AF7-7684-A4FF13FDB5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F6424-CACD-9321-5813-C4E544D2B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EEBF2-7375-BC95-1A93-CF4FE0D19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7EC-0EBB-42A2-8A9E-F0DBACF3298C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AFF18-AEF7-7493-F567-93B132E1B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9FA14-49FD-6A80-F476-EAA9C687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1996-BBCF-4B28-B338-C43829DBB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4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233D65-AC50-CBCD-E611-FB3C6F06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4507A-61F3-3C01-2BF1-B232F9EF8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B4476-BA13-01D1-2BC5-8250B27F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117EC-0EBB-42A2-8A9E-F0DBACF3298C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A791C-1873-7046-E2B5-2485A6A8F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49DFC-F51B-CB79-6096-69B806A8C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21996-BBCF-4B28-B338-C43829DBBA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539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B0C92-4233-F877-D7AB-8E3CC814BF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Plant Disease Detection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A46FE-39D5-BCD2-BDE0-9EACE3877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704" y="4907756"/>
            <a:ext cx="9144000" cy="1655762"/>
          </a:xfrm>
        </p:spPr>
        <p:txBody>
          <a:bodyPr>
            <a:normAutofit fontScale="92500" lnSpcReduction="20000"/>
          </a:bodyPr>
          <a:lstStyle/>
          <a:p>
            <a:pPr algn="l"/>
            <a:endParaRPr lang="en-US" sz="2000" dirty="0"/>
          </a:p>
          <a:p>
            <a:pPr algn="l"/>
            <a:r>
              <a:rPr lang="en-US" sz="2000" dirty="0"/>
              <a:t>Name: Muralidhar Divakar</a:t>
            </a:r>
          </a:p>
          <a:p>
            <a:pPr algn="l"/>
            <a:r>
              <a:rPr lang="en-US" sz="2000" dirty="0"/>
              <a:t>Student No.: 25255674</a:t>
            </a:r>
          </a:p>
          <a:p>
            <a:pPr algn="l"/>
            <a:r>
              <a:rPr lang="en-US" sz="2000" dirty="0"/>
              <a:t>CS618[A] – Deep Learning for Software Engineers</a:t>
            </a:r>
          </a:p>
          <a:p>
            <a:pPr algn="l"/>
            <a:r>
              <a:rPr lang="en-US" sz="2000" dirty="0"/>
              <a:t>Lecturer: Mr. Mark McCormack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57901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C544E-93EE-F660-5B07-30E485BFF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52CF5-1774-9087-AC6A-26F7DCC0D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 plant disease inspection is slow, subjective, and unscalable.​</a:t>
            </a:r>
          </a:p>
          <a:p>
            <a:endParaRPr lang="en-US" dirty="0"/>
          </a:p>
          <a:p>
            <a:r>
              <a:rPr lang="en-US" dirty="0"/>
              <a:t>Early detection is critical for improving crop yield and reducing losses.​</a:t>
            </a:r>
          </a:p>
          <a:p>
            <a:endParaRPr lang="en-US" dirty="0"/>
          </a:p>
          <a:p>
            <a:r>
              <a:rPr lang="en-US" dirty="0"/>
              <a:t>Deep learning, especially CNNs, can automate this process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5156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D83C8-9304-3FEE-5F2B-70D3629D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8834D-9D84-D7B1-B3B2-E9AADAB9E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 deep learning model to detect plant diseases from leaf images.​</a:t>
            </a:r>
          </a:p>
          <a:p>
            <a:endParaRPr lang="en-US" dirty="0"/>
          </a:p>
          <a:p>
            <a:r>
              <a:rPr lang="en-US" dirty="0"/>
              <a:t>Enable scalable, fast, and accurate disease diagnosis.​</a:t>
            </a:r>
          </a:p>
          <a:p>
            <a:endParaRPr lang="en-US" dirty="0"/>
          </a:p>
          <a:p>
            <a:r>
              <a:rPr lang="en-US" dirty="0"/>
              <a:t>Support timely intervention and crop health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432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7BC7D-AD25-227B-45DD-D0EEB217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A09D0-272A-15D0-2B66-B8CE49ECE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Source: Kaggle (</a:t>
            </a:r>
            <a:r>
              <a:rPr lang="en-US" dirty="0" err="1"/>
              <a:t>emmaredplantdisease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Organized into MultiCrop9 (relevant classes only).​</a:t>
            </a:r>
          </a:p>
          <a:p>
            <a:endParaRPr lang="en-US" dirty="0"/>
          </a:p>
          <a:p>
            <a:r>
              <a:rPr lang="en-US" dirty="0"/>
              <a:t>Preprocessing:</a:t>
            </a:r>
          </a:p>
          <a:p>
            <a:pPr lvl="1"/>
            <a:r>
              <a:rPr lang="en-US" dirty="0"/>
              <a:t>Images resized to 224x224 pixels.​</a:t>
            </a:r>
          </a:p>
          <a:p>
            <a:pPr lvl="1"/>
            <a:r>
              <a:rPr lang="en-US" dirty="0"/>
              <a:t>Data split: 80% training, 10% validation, 10% test.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4847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753D9-D4E2-B33B-3DE6-5DB532F0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B5A67-26D1-8704-0138-B84B85B94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Base: MobileNetV2 (pre-trained on ImageNet).​</a:t>
            </a:r>
          </a:p>
          <a:p>
            <a:endParaRPr lang="en-US" dirty="0"/>
          </a:p>
          <a:p>
            <a:r>
              <a:rPr lang="en-US" dirty="0"/>
              <a:t>Top layers replaced:</a:t>
            </a:r>
          </a:p>
          <a:p>
            <a:pPr lvl="1"/>
            <a:r>
              <a:rPr lang="en-US" dirty="0"/>
              <a:t>GlobalAveragePooling2D</a:t>
            </a:r>
          </a:p>
          <a:p>
            <a:pPr lvl="1"/>
            <a:r>
              <a:rPr lang="en-US" dirty="0"/>
              <a:t>Dropout (0.3)</a:t>
            </a:r>
          </a:p>
          <a:p>
            <a:pPr lvl="1"/>
            <a:r>
              <a:rPr lang="en-US" dirty="0"/>
              <a:t>Dense layer with </a:t>
            </a:r>
            <a:r>
              <a:rPr lang="en-US" dirty="0" err="1"/>
              <a:t>softmax</a:t>
            </a:r>
            <a:r>
              <a:rPr lang="en-US" dirty="0"/>
              <a:t> activation.​</a:t>
            </a:r>
          </a:p>
          <a:p>
            <a:pPr lvl="1"/>
            <a:endParaRPr lang="en-US" dirty="0"/>
          </a:p>
          <a:p>
            <a:r>
              <a:rPr lang="en-US" dirty="0"/>
              <a:t>Transfer learning: base layers frozen, additional layers trained.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001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26A4-6AB0-B255-AE03-9097DD9CB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Details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06DE7-BF14-A7A4-FB18-1ACFED3FA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Optimizer: Adam (learning rate: 1e-4).​</a:t>
            </a:r>
          </a:p>
          <a:p>
            <a:endParaRPr lang="en-US" dirty="0"/>
          </a:p>
          <a:p>
            <a:r>
              <a:rPr lang="en-US" dirty="0"/>
              <a:t>Loss: Sparse Categorical Cross-Entropy.​</a:t>
            </a:r>
          </a:p>
          <a:p>
            <a:endParaRPr lang="en-US" dirty="0"/>
          </a:p>
          <a:p>
            <a:r>
              <a:rPr lang="en-US" dirty="0"/>
              <a:t>Epochs: 10</a:t>
            </a:r>
          </a:p>
          <a:p>
            <a:r>
              <a:rPr lang="en-US" dirty="0"/>
              <a:t>Batch Size: 32.​</a:t>
            </a:r>
          </a:p>
          <a:p>
            <a:endParaRPr lang="en-US" dirty="0"/>
          </a:p>
          <a:p>
            <a:r>
              <a:rPr lang="en-US" dirty="0"/>
              <a:t>Fine-tuning applied after initial training.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5499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4F07-0DFD-D9ED-295C-66575C253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8F43C-081D-D660-7C7E-DB042FC5A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Accuracy: 93.5%.​</a:t>
            </a:r>
          </a:p>
          <a:p>
            <a:endParaRPr lang="en-US" dirty="0"/>
          </a:p>
          <a:p>
            <a:r>
              <a:rPr lang="en-US" dirty="0"/>
              <a:t>Classification Report: Precision, recall, F1-score for each class.​</a:t>
            </a:r>
          </a:p>
          <a:p>
            <a:endParaRPr lang="en-US" dirty="0"/>
          </a:p>
          <a:p>
            <a:r>
              <a:rPr lang="en-US" dirty="0"/>
              <a:t>Confusion Matrix: Visualizes misclassifications and error patterns.​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701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C7FCE-42CF-3CDC-2E92-8778A1C4C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06E83-484F-0385-B7E3-39D240FB6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accuracy in detecting healthy and diseased crops -​ </a:t>
            </a:r>
            <a:r>
              <a:rPr lang="en-US" dirty="0">
                <a:solidFill>
                  <a:srgbClr val="FF0000"/>
                </a:solidFill>
              </a:rPr>
              <a:t>93.5%</a:t>
            </a:r>
          </a:p>
          <a:p>
            <a:endParaRPr lang="en-US" dirty="0"/>
          </a:p>
          <a:p>
            <a:r>
              <a:rPr lang="en-US" dirty="0"/>
              <a:t>Misclassification occurred for diseases with subtle symptoms.​</a:t>
            </a:r>
          </a:p>
          <a:p>
            <a:endParaRPr lang="en-US" dirty="0"/>
          </a:p>
          <a:p>
            <a:r>
              <a:rPr lang="en-US" dirty="0"/>
              <a:t>Model insights support further improvements via data augmentation and fine-tuning.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626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2936-6F1E-1007-AC21-76ECE45A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159E4-C18D-DB3B-5D18-CB78F30E6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MobileNetV2 with transfer learning is effective for multi-class plant disease detection.​</a:t>
            </a:r>
          </a:p>
          <a:p>
            <a:r>
              <a:rPr lang="en-US" dirty="0"/>
              <a:t>Model demonstrates potential for real-time deployment in agriculture.​</a:t>
            </a:r>
          </a:p>
          <a:p>
            <a:endParaRPr lang="en-US" dirty="0"/>
          </a:p>
          <a:p>
            <a:r>
              <a:rPr lang="en-US" dirty="0"/>
              <a:t>Limitations include occasional misclassification for similar diseases.​</a:t>
            </a:r>
          </a:p>
          <a:p>
            <a:r>
              <a:rPr lang="en-US" dirty="0"/>
              <a:t>Future work: Fine-tuning, augmentation, more complex architectures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008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0709D-25CC-1634-B316-2127FC97E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38392-3138-C60B-B1F0-CC91849A0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Hughes, D. P., &amp; </a:t>
            </a:r>
            <a:r>
              <a:rPr lang="en-US" dirty="0" err="1"/>
              <a:t>Salathé</a:t>
            </a:r>
            <a:r>
              <a:rPr lang="en-US" dirty="0"/>
              <a:t>, M. (2015). Open-access repository for plant health images.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0909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342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Plant Disease Detection</vt:lpstr>
      <vt:lpstr>Problem Definition</vt:lpstr>
      <vt:lpstr>Objectives</vt:lpstr>
      <vt:lpstr>Dataset</vt:lpstr>
      <vt:lpstr>Model Architecture</vt:lpstr>
      <vt:lpstr>Training Details</vt:lpstr>
      <vt:lpstr>Evaluation Metrics</vt:lpstr>
      <vt:lpstr>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D</dc:creator>
  <cp:lastModifiedBy>M D</cp:lastModifiedBy>
  <cp:revision>7</cp:revision>
  <dcterms:created xsi:type="dcterms:W3CDTF">2025-12-07T15:55:57Z</dcterms:created>
  <dcterms:modified xsi:type="dcterms:W3CDTF">2025-12-07T16:16:28Z</dcterms:modified>
</cp:coreProperties>
</file>